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11430">
            <a:solidFill>
              <a:srgbClr val="7A7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8755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Engineering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85216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a requirement — not an optional control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3504" y="2331720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b="1" dirty="0">
                <a:solidFill>
                  <a:srgbClr val="0B8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question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585216" y="2596896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a requirement. When AI is impressive in a demo, what makes it safe enough for real use?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1097280"/>
            <a:ext cx="5248656" cy="457200"/>
          </a:xfrm>
          <a:prstGeom prst="rect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1615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incidents, not hype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6199632" y="1773936"/>
            <a:ext cx="5248656" cy="95097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901952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incidents are not just failures.</a:t>
            </a:r>
            <a:endParaRPr lang="en-US" sz="1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case studies in missing controls.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99632" y="3072384"/>
            <a:ext cx="5248656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3200400"/>
            <a:ext cx="4919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example: McDonald’s ended its IBM AI drive-thru test in 2024 after accuracy and interpretation issues.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6199632" y="4407408"/>
            <a:ext cx="5248656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4535424"/>
            <a:ext cx="4919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Engineering asks: where could this fail, and what catches it before it matters?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10160">
            <a:solidFill>
              <a:srgbClr val="7A7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437376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Notes are an integral part of this presentation.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11375136" y="64373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66928" y="6254496"/>
            <a:ext cx="10835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2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AI Incident Database; spatial view: incidentdatabase.ai/summaries/spatial/; AP News reported McDonald’s ending IBM AI drive-thru partnership in 2024.</a:t>
            </a:r>
            <a:endParaRPr lang="en-US" sz="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11430">
            <a:solidFill>
              <a:srgbClr val="7A7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58368"/>
            <a:ext cx="384048" cy="384048"/>
          </a:xfrm>
          <a:prstGeom prst="ellipse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" y="7543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640080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a requirement: from useful AI to trusted AI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60704" y="10424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capability is not production-ready until the failure path is designed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10160">
            <a:solidFill>
              <a:srgbClr val="7A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37376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Notes are an integral part of this presentation.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11375136" y="64373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40080" y="1517904"/>
            <a:ext cx="3520440" cy="411480"/>
          </a:xfrm>
          <a:prstGeom prst="rect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636776"/>
            <a:ext cx="3300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tempting question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3520440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276856"/>
            <a:ext cx="31912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can we use AI for this?”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3419856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question creates pilots.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70832" y="2907792"/>
            <a:ext cx="987552" cy="0"/>
          </a:xfrm>
          <a:prstGeom prst="line">
            <a:avLst/>
          </a:prstGeom>
          <a:noFill/>
          <a:ln w="1778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14416" y="1517904"/>
            <a:ext cx="5349240" cy="411480"/>
          </a:xfrm>
          <a:prstGeom prst="rect">
            <a:avLst/>
          </a:prstGeom>
          <a:solidFill>
            <a:srgbClr val="6C66B8"/>
          </a:solidFill>
          <a:ln w="12700">
            <a:solidFill>
              <a:srgbClr val="6C66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24144" y="1636776"/>
            <a:ext cx="5129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question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5614416" y="2148840"/>
            <a:ext cx="5349240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2276856"/>
            <a:ext cx="5020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“Are we prepared for AI to be wrong?”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547104" y="3419856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question creates production confidence.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5840" y="4736592"/>
            <a:ext cx="1019556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4736592"/>
            <a:ext cx="118872" cy="713232"/>
          </a:xfrm>
          <a:prstGeom prst="rect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4882896"/>
            <a:ext cx="9774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Engineering connects AI design, risk management and governance. Trust is a requirement because AI failure must be visible, contained and recoverable.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11430">
            <a:solidFill>
              <a:srgbClr val="7A7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58368"/>
            <a:ext cx="384048" cy="384048"/>
          </a:xfrm>
          <a:prstGeom prst="ellipse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" y="7543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640080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fails differently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60704" y="10424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be wrong confidently, invisibly, or at scale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10160">
            <a:solidFill>
              <a:srgbClr val="7A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37376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Notes are an integral part of this presentation.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11375136" y="64373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566928" y="1481328"/>
            <a:ext cx="3383280" cy="420624"/>
          </a:xfrm>
          <a:prstGeom prst="rect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1600200"/>
            <a:ext cx="3163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Algorithm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4407408" y="1481328"/>
            <a:ext cx="3383280" cy="420624"/>
          </a:xfrm>
          <a:prstGeom prst="rect">
            <a:avLst/>
          </a:prstGeom>
          <a:solidFill>
            <a:srgbClr val="6C66B8"/>
          </a:solidFill>
          <a:ln w="12700">
            <a:solidFill>
              <a:srgbClr val="6C66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600200"/>
            <a:ext cx="3163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Human behaviour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8247888" y="1481328"/>
            <a:ext cx="3383280" cy="420624"/>
          </a:xfrm>
          <a:prstGeom prst="rect">
            <a:avLst/>
          </a:prstGeom>
          <a:solidFill>
            <a:srgbClr val="005D87"/>
          </a:solidFill>
          <a:ln w="12700">
            <a:solidFill>
              <a:srgbClr val="005D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1600200"/>
            <a:ext cx="3163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Context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566928" y="2103120"/>
            <a:ext cx="3383280" cy="3154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2103120"/>
            <a:ext cx="3383280" cy="3154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2103120"/>
            <a:ext cx="3383280" cy="3154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2546604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2450592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behaviour: works here, fails there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41248" y="3113532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3017520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creates brittle decisions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41248" y="3680460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3584448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and data sensitivity matter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41248" y="4247388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" y="4151376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systems can compound errors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681728" y="2546604"/>
            <a:ext cx="68580" cy="68580"/>
          </a:xfrm>
          <a:prstGeom prst="ellipse">
            <a:avLst/>
          </a:prstGeom>
          <a:solidFill>
            <a:srgbClr val="6C6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2450592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often do not know exactly what we want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681728" y="3113532"/>
            <a:ext cx="68580" cy="68580"/>
          </a:xfrm>
          <a:prstGeom prst="ellipse">
            <a:avLst/>
          </a:prstGeom>
          <a:solidFill>
            <a:srgbClr val="6C6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017520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Oversharing and overtrust add risk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681728" y="3680460"/>
            <a:ext cx="68580" cy="68580"/>
          </a:xfrm>
          <a:prstGeom prst="ellipse">
            <a:avLst/>
          </a:prstGeom>
          <a:solidFill>
            <a:srgbClr val="6C6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3584448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changes behaviour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4681728" y="4247388"/>
            <a:ext cx="68580" cy="68580"/>
          </a:xfrm>
          <a:prstGeom prst="ellipse">
            <a:avLst/>
          </a:prstGeom>
          <a:solidFill>
            <a:srgbClr val="6C6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4151376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data is not AI-ready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522208" y="2546604"/>
            <a:ext cx="68580" cy="68580"/>
          </a:xfrm>
          <a:prstGeom prst="ellipse">
            <a:avLst/>
          </a:prstGeom>
          <a:solidFill>
            <a:srgbClr val="005D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50224" y="2450592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context is not the same as trusted context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522208" y="3113532"/>
            <a:ext cx="68580" cy="68580"/>
          </a:xfrm>
          <a:prstGeom prst="ellipse">
            <a:avLst/>
          </a:prstGeom>
          <a:solidFill>
            <a:srgbClr val="005D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50224" y="3017520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poisoning and distraction matter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8522208" y="3680460"/>
            <a:ext cx="68580" cy="68580"/>
          </a:xfrm>
          <a:prstGeom prst="ellipse">
            <a:avLst/>
          </a:prstGeom>
          <a:solidFill>
            <a:srgbClr val="005D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50224" y="3584448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sources create multiple truths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8522208" y="4247388"/>
            <a:ext cx="68580" cy="68580"/>
          </a:xfrm>
          <a:prstGeom prst="ellipse">
            <a:avLst/>
          </a:prstGeom>
          <a:solidFill>
            <a:srgbClr val="005D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50224" y="4151376"/>
            <a:ext cx="2660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input is a control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960120" y="5650992"/>
            <a:ext cx="10241280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" y="5650992"/>
            <a:ext cx="118872" cy="420624"/>
          </a:xfrm>
          <a:prstGeom prst="rect">
            <a:avLst/>
          </a:prstGeom>
          <a:solidFill>
            <a:srgbClr val="C2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16152" y="5797296"/>
            <a:ext cx="98206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message: AI risk is not only a model problem. It is a system design problem.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11430">
            <a:solidFill>
              <a:srgbClr val="7A7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58368"/>
            <a:ext cx="384048" cy="384048"/>
          </a:xfrm>
          <a:prstGeom prst="ellipse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" y="7543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640080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trap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60704" y="10424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context windows do not remove the need for trusted information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10160">
            <a:solidFill>
              <a:srgbClr val="7A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37376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Notes are an integral part of this presentation.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11375136" y="64373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94944" y="15910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larger memory does not guarantee better judgement.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6126480"/>
            <a:ext cx="5532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Incident Database spatial view: incidentdatabase.ai/summaries/spatial/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713232" y="19933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notes captured the point clearly: context is important, but untrusted context can become the failure path.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63640" y="1481328"/>
            <a:ext cx="4983480" cy="420624"/>
          </a:xfrm>
          <a:prstGeom prst="rect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600200"/>
            <a:ext cx="4764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go wrong?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6528816" y="2180844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2084832"/>
            <a:ext cx="4398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poisoning: malicious or hidden instructions enter the source material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528816" y="2711196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2615184"/>
            <a:ext cx="4398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distraction: the model attends to the wrong signal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528816" y="3241548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145536"/>
            <a:ext cx="4398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confusion: too much information blurs the answer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528816" y="3771900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3675888"/>
            <a:ext cx="4398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clash: multiple versions of truth compete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94944" y="3246120"/>
            <a:ext cx="4983480" cy="420624"/>
          </a:xfrm>
          <a:prstGeom prst="rect">
            <a:avLst/>
          </a:prstGeom>
          <a:solidFill>
            <a:srgbClr val="6C66B8"/>
          </a:solidFill>
          <a:ln w="12700">
            <a:solidFill>
              <a:srgbClr val="6C66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364992"/>
            <a:ext cx="4764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Trust Engineering does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694944" y="3913632"/>
            <a:ext cx="4983480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041648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 the information you trust</a:t>
            </a:r>
            <a:endParaRPr lang="en-US" sz="20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give that to AI.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94944" y="4956048"/>
            <a:ext cx="49834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5084064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source discipline, confidence signals, and escalation rules when ground truth is weak.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6263640" y="4956048"/>
            <a:ext cx="49834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4956048"/>
            <a:ext cx="118872" cy="786384"/>
          </a:xfrm>
          <a:prstGeom prst="rect">
            <a:avLst/>
          </a:prstGeom>
          <a:solidFill>
            <a:srgbClr val="D59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5102352"/>
            <a:ext cx="45628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inputs matter: even a familiar label can be misunderstood if the system has the wrong context.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11430">
            <a:solidFill>
              <a:srgbClr val="7A7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58368"/>
            <a:ext cx="384048" cy="384048"/>
          </a:xfrm>
          <a:prstGeom prst="ellipse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" y="7543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640080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Engineering operating model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60704" y="10424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discipline, not a theoretical control framework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10160">
            <a:solidFill>
              <a:srgbClr val="7A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37376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Notes are an integral part of this presentation.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11375136" y="64373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731520" y="1444752"/>
            <a:ext cx="10744200" cy="420624"/>
          </a:xfrm>
          <a:prstGeom prst="rect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563624"/>
            <a:ext cx="10524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connected disciplines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841248" y="2240280"/>
            <a:ext cx="3063240" cy="1316736"/>
          </a:xfrm>
          <a:prstGeom prst="rect">
            <a:avLst/>
          </a:prstGeom>
          <a:solidFill>
            <a:srgbClr val="FFFFFF"/>
          </a:solidFill>
          <a:ln w="15240">
            <a:solidFill>
              <a:srgbClr val="0B83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240280"/>
            <a:ext cx="3063240" cy="329184"/>
          </a:xfrm>
          <a:prstGeom prst="rect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331720"/>
            <a:ext cx="2916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Design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87552" y="2752344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AI do?</a:t>
            </a:r>
            <a:endParaRPr lang="en-US" sz="9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it not do?</a:t>
            </a:r>
            <a:endParaRPr lang="en-US" sz="9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users interact?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553712" y="2240280"/>
            <a:ext cx="3063240" cy="1316736"/>
          </a:xfrm>
          <a:prstGeom prst="rect">
            <a:avLst/>
          </a:prstGeom>
          <a:solidFill>
            <a:srgbClr val="FFFFFF"/>
          </a:solidFill>
          <a:ln w="15240">
            <a:solidFill>
              <a:srgbClr val="6C66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2240280"/>
            <a:ext cx="3063240" cy="329184"/>
          </a:xfrm>
          <a:prstGeom prst="rect">
            <a:avLst/>
          </a:prstGeom>
          <a:solidFill>
            <a:srgbClr val="6C66B8"/>
          </a:solidFill>
          <a:ln w="12700">
            <a:solidFill>
              <a:srgbClr val="6C66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331720"/>
            <a:ext cx="2916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700016" y="2752344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fail?</a:t>
            </a:r>
            <a:endParaRPr lang="en-US" sz="9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cost of error?</a:t>
            </a:r>
            <a:endParaRPr lang="en-US" sz="9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mitigate?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266176" y="2240280"/>
            <a:ext cx="3063240" cy="1316736"/>
          </a:xfrm>
          <a:prstGeom prst="rect">
            <a:avLst/>
          </a:prstGeom>
          <a:solidFill>
            <a:srgbClr val="FFFFFF"/>
          </a:solidFill>
          <a:ln w="15240">
            <a:solidFill>
              <a:srgbClr val="005D8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76" y="2240280"/>
            <a:ext cx="3063240" cy="329184"/>
          </a:xfrm>
          <a:prstGeom prst="rect">
            <a:avLst/>
          </a:prstGeom>
          <a:solidFill>
            <a:srgbClr val="005D87"/>
          </a:solidFill>
          <a:ln w="12700">
            <a:solidFill>
              <a:srgbClr val="005D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2331720"/>
            <a:ext cx="2916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412480" y="2752344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decision?</a:t>
            </a:r>
            <a:endParaRPr lang="en-US" sz="9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policies apply?</a:t>
            </a:r>
            <a:endParaRPr lang="en-US" sz="9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trust maintained?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3913632" y="2889504"/>
            <a:ext cx="621792" cy="0"/>
          </a:xfrm>
          <a:prstGeom prst="line">
            <a:avLst/>
          </a:prstGeom>
          <a:noFill/>
          <a:ln w="1524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635240" y="2889504"/>
            <a:ext cx="621792" cy="0"/>
          </a:xfrm>
          <a:prstGeom prst="line">
            <a:avLst/>
          </a:prstGeom>
          <a:noFill/>
          <a:ln w="15240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4128" y="4334256"/>
            <a:ext cx="1010412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" y="4334256"/>
            <a:ext cx="118872" cy="658368"/>
          </a:xfrm>
          <a:prstGeom prst="rect">
            <a:avLst/>
          </a:prstGeom>
          <a:solidFill>
            <a:srgbClr val="C2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480560"/>
            <a:ext cx="9683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aim is not to eliminate all failure. The aim is to make failure predictable, visible, contained and recoverable.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24128" y="5303520"/>
            <a:ext cx="10104120" cy="43891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5431536"/>
            <a:ext cx="9774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the behaviour we rely on when manually verifying every answer is too costly.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11430">
            <a:solidFill>
              <a:srgbClr val="7A7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58368"/>
            <a:ext cx="384048" cy="384048"/>
          </a:xfrm>
          <a:prstGeom prst="ellipse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" y="7543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640080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is not the finish line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60704" y="10424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AI design balances automation with human judgement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10160">
            <a:solidFill>
              <a:srgbClr val="7A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37376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Notes are an integral part of this presentation.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11375136" y="64373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40080" y="1481328"/>
            <a:ext cx="5212080" cy="420624"/>
          </a:xfrm>
          <a:prstGeom prst="rect">
            <a:avLst/>
          </a:prstGeom>
          <a:solidFill>
            <a:srgbClr val="C24A4A"/>
          </a:solidFill>
          <a:ln w="12700">
            <a:solidFill>
              <a:srgbClr val="C24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600200"/>
            <a:ext cx="4992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automation trap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640080" y="2139696"/>
            <a:ext cx="521208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267712"/>
            <a:ext cx="4882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AI can do 90%, let it do everything.”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74520" y="321868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C2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risk hides.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1481328"/>
            <a:ext cx="5212080" cy="420624"/>
          </a:xfrm>
          <a:prstGeom prst="rect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600200"/>
            <a:ext cx="4992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trust-engineered answer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6309360" y="2139696"/>
            <a:ext cx="521208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267712"/>
            <a:ext cx="4882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risky 10% and design the handoff.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16368" y="321868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8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control appears.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4165092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069080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is the cost of error?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914400" y="4494276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4398264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how predictable is the outcome?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914400" y="4823460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4727448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where is human intervention required?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914400" y="5152644"/>
            <a:ext cx="68580" cy="68580"/>
          </a:xfrm>
          <a:prstGeom prst="ellipse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" y="5056632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prompts, highlights and pauses to create thoughtful friction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2011680" y="5669280"/>
            <a:ext cx="8138160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5669280"/>
            <a:ext cx="118872" cy="420624"/>
          </a:xfrm>
          <a:prstGeom prst="rect">
            <a:avLst/>
          </a:prstGeom>
          <a:solidFill>
            <a:srgbClr val="6C6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5815584"/>
            <a:ext cx="7717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attention is a control, not a weakness.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11430">
            <a:solidFill>
              <a:srgbClr val="7A7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58368"/>
            <a:ext cx="384048" cy="384048"/>
          </a:xfrm>
          <a:prstGeom prst="ellipse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" y="7543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640080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trust checklist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60704" y="10424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lenses that help teams move from enthusiasm to safe confidence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10160">
            <a:solidFill>
              <a:srgbClr val="7A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37376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Notes are an integral part of this presentation.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11375136" y="64373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40080" y="1444752"/>
            <a:ext cx="10881360" cy="420624"/>
          </a:xfrm>
          <a:prstGeom prst="rect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563624"/>
            <a:ext cx="10661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framework in AI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868680" y="2139696"/>
            <a:ext cx="48920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3272" y="2276856"/>
            <a:ext cx="237744" cy="237744"/>
          </a:xfrm>
          <a:prstGeom prst="ellipse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1852" y="2336292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1371600" y="225856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and reliable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3593592" y="2258568"/>
            <a:ext cx="1965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the intended use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190488" y="2139696"/>
            <a:ext cx="48920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276856"/>
            <a:ext cx="237744" cy="237744"/>
          </a:xfrm>
          <a:prstGeom prst="ellipse">
            <a:avLst/>
          </a:prstGeom>
          <a:solidFill>
            <a:srgbClr val="6C66B8"/>
          </a:solidFill>
          <a:ln w="12700">
            <a:solidFill>
              <a:srgbClr val="6C66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2336292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6693408" y="2258568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8915400" y="2258568"/>
            <a:ext cx="1965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unacceptable harm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868680" y="2907792"/>
            <a:ext cx="48920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3272" y="3044952"/>
            <a:ext cx="237744" cy="237744"/>
          </a:xfrm>
          <a:prstGeom prst="ellipse">
            <a:avLst/>
          </a:prstGeom>
          <a:solidFill>
            <a:srgbClr val="005D87"/>
          </a:solidFill>
          <a:ln w="12700">
            <a:solidFill>
              <a:srgbClr val="005D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1852" y="3104388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1371600" y="3026664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and resilient</a:t>
            </a:r>
            <a:endParaRPr lang="en-US" sz="1090" dirty="0"/>
          </a:p>
        </p:txBody>
      </p:sp>
      <p:sp>
        <p:nvSpPr>
          <p:cNvPr id="28" name="Text 26"/>
          <p:cNvSpPr/>
          <p:nvPr/>
        </p:nvSpPr>
        <p:spPr>
          <a:xfrm>
            <a:off x="3593592" y="3026664"/>
            <a:ext cx="1965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Resists misuse and failure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190488" y="2907792"/>
            <a:ext cx="48920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044952"/>
            <a:ext cx="237744" cy="237744"/>
          </a:xfrm>
          <a:prstGeom prst="ellipse">
            <a:avLst/>
          </a:prstGeom>
          <a:solidFill>
            <a:srgbClr val="D59A00"/>
          </a:solidFill>
          <a:ln w="12700">
            <a:solidFill>
              <a:srgbClr val="D59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3660" y="3104388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6693408" y="3026664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and transparent</a:t>
            </a:r>
            <a:endParaRPr lang="en-US" sz="1090" dirty="0"/>
          </a:p>
        </p:txBody>
      </p:sp>
      <p:sp>
        <p:nvSpPr>
          <p:cNvPr id="33" name="Text 31"/>
          <p:cNvSpPr/>
          <p:nvPr/>
        </p:nvSpPr>
        <p:spPr>
          <a:xfrm>
            <a:off x="8915400" y="3026664"/>
            <a:ext cx="1965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clear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868680" y="3675888"/>
            <a:ext cx="48920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3272" y="3813048"/>
            <a:ext cx="237744" cy="237744"/>
          </a:xfrm>
          <a:prstGeom prst="ellipse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1852" y="3872484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1371600" y="3794760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and interpretable</a:t>
            </a:r>
            <a:endParaRPr lang="en-US" sz="1090" dirty="0"/>
          </a:p>
        </p:txBody>
      </p:sp>
      <p:sp>
        <p:nvSpPr>
          <p:cNvPr id="38" name="Text 36"/>
          <p:cNvSpPr/>
          <p:nvPr/>
        </p:nvSpPr>
        <p:spPr>
          <a:xfrm>
            <a:off x="3593592" y="3794760"/>
            <a:ext cx="1965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can understand enough to trust it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190488" y="3675888"/>
            <a:ext cx="48920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3813048"/>
            <a:ext cx="237744" cy="237744"/>
          </a:xfrm>
          <a:prstGeom prst="ellipse">
            <a:avLst/>
          </a:prstGeom>
          <a:solidFill>
            <a:srgbClr val="6C66B8"/>
          </a:solidFill>
          <a:ln w="12700">
            <a:solidFill>
              <a:srgbClr val="6C66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3660" y="3872484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6693408" y="3794760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enhanced</a:t>
            </a:r>
            <a:endParaRPr lang="en-US" sz="1090" dirty="0"/>
          </a:p>
        </p:txBody>
      </p:sp>
      <p:sp>
        <p:nvSpPr>
          <p:cNvPr id="43" name="Text 41"/>
          <p:cNvSpPr/>
          <p:nvPr/>
        </p:nvSpPr>
        <p:spPr>
          <a:xfrm>
            <a:off x="8915400" y="3794760"/>
            <a:ext cx="1965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is protected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3547872" y="4590288"/>
            <a:ext cx="52578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12464" y="4727448"/>
            <a:ext cx="237744" cy="237744"/>
          </a:xfrm>
          <a:prstGeom prst="ellipse">
            <a:avLst/>
          </a:prstGeom>
          <a:solidFill>
            <a:srgbClr val="C24A4A"/>
          </a:solidFill>
          <a:ln w="12700">
            <a:solidFill>
              <a:srgbClr val="C24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81044" y="4786884"/>
            <a:ext cx="914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4050792" y="4709160"/>
            <a:ext cx="20299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Fair, bias managed</a:t>
            </a:r>
            <a:endParaRPr lang="en-US" sz="1090" dirty="0"/>
          </a:p>
        </p:txBody>
      </p:sp>
      <p:sp>
        <p:nvSpPr>
          <p:cNvPr id="48" name="Text 46"/>
          <p:cNvSpPr/>
          <p:nvPr/>
        </p:nvSpPr>
        <p:spPr>
          <a:xfrm>
            <a:off x="6272784" y="4709160"/>
            <a:ext cx="2331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bias is actively considered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1005840" y="5522976"/>
            <a:ext cx="1014984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0432" y="5650992"/>
            <a:ext cx="9820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bureaucracy. It is the checklist that protects users, teams and the organisation.</a:t>
            </a:r>
            <a:endParaRPr lang="en-US" sz="14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512064"/>
            <a:ext cx="11045952" cy="0"/>
          </a:xfrm>
          <a:prstGeom prst="line">
            <a:avLst/>
          </a:prstGeom>
          <a:noFill/>
          <a:ln w="11430">
            <a:solidFill>
              <a:srgbClr val="7A7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58368"/>
            <a:ext cx="384048" cy="384048"/>
          </a:xfrm>
          <a:prstGeom prst="ellipse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" y="7543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640080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beyond accuracy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60704" y="10424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52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 benchmark score is not the same as a dependable production system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10160">
            <a:solidFill>
              <a:srgbClr val="7A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37376"/>
            <a:ext cx="5120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Notes are an integral part of this presentation.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11375136" y="64373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B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40080" y="1481328"/>
            <a:ext cx="5212080" cy="420624"/>
          </a:xfrm>
          <a:prstGeom prst="rect">
            <a:avLst/>
          </a:prstGeom>
          <a:solidFill>
            <a:srgbClr val="0B83B0"/>
          </a:solidFill>
          <a:ln w="12700">
            <a:solidFill>
              <a:srgbClr val="0B83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600200"/>
            <a:ext cx="4992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more than “did it answer?”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786384" y="2148840"/>
            <a:ext cx="23317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27685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364992" y="2148840"/>
            <a:ext cx="23317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227685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expectations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6384" y="2926080"/>
            <a:ext cx="23317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05409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364992" y="2926080"/>
            <a:ext cx="23317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305409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impact and cost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91363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such as MMLU, HellaSwag, HumanEval and TruthfulQA are useful, but they do not replace real use-case evaluation.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6400800" y="1481328"/>
            <a:ext cx="5102352" cy="420624"/>
          </a:xfrm>
          <a:prstGeom prst="rect">
            <a:avLst/>
          </a:prstGeom>
          <a:solidFill>
            <a:srgbClr val="6C66B8"/>
          </a:solidFill>
          <a:ln w="12700">
            <a:solidFill>
              <a:srgbClr val="6C66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600200"/>
            <a:ext cx="4882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production-readiness question</a:t>
            </a:r>
            <a:endParaRPr lang="en-US" sz="1360" dirty="0"/>
          </a:p>
        </p:txBody>
      </p:sp>
      <p:sp>
        <p:nvSpPr>
          <p:cNvPr id="25" name="Shape 23"/>
          <p:cNvSpPr/>
          <p:nvPr/>
        </p:nvSpPr>
        <p:spPr>
          <a:xfrm>
            <a:off x="6400800" y="2148840"/>
            <a:ext cx="5102352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2276856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can this be wrong?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00800" y="2944368"/>
            <a:ext cx="5102352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3072384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catches it?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00800" y="3739896"/>
            <a:ext cx="5102352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867912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accountable?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5840" y="5577840"/>
            <a:ext cx="101498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5577840"/>
            <a:ext cx="118872" cy="548640"/>
          </a:xfrm>
          <a:prstGeom prst="rect">
            <a:avLst/>
          </a:prstGeom>
          <a:solidFill>
            <a:srgbClr val="0B83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61872" y="5724144"/>
            <a:ext cx="9729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message: Trust Engineering turns AI from impressive to dependable.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 Engineering: From AI Excitement to Dependable Adoption</dc:title>
  <dc:subject>Trust Engineering storytelling deck</dc:subject>
  <dc:creator>OpenAI</dc:creator>
  <cp:lastModifiedBy>OpenAI</cp:lastModifiedBy>
  <cp:revision>1</cp:revision>
  <dcterms:created xsi:type="dcterms:W3CDTF">2026-06-26T16:02:24Z</dcterms:created>
  <dcterms:modified xsi:type="dcterms:W3CDTF">2026-06-26T16:02:24Z</dcterms:modified>
</cp:coreProperties>
</file>