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6" d="100"/>
          <a:sy n="116" d="100"/>
        </p:scale>
        <p:origin x="35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251112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164592"/>
            <a:ext cx="228600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Morgan Stanley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8732520" y="201168"/>
            <a:ext cx="256032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r">
              <a:lnSpc>
                <a:spcPct val="95000"/>
              </a:lnSpc>
              <a:buNone/>
            </a:pPr>
            <a:r>
              <a:rPr lang="en-US" sz="9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 Productivity | DX Core 4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30352" y="566928"/>
            <a:ext cx="11109960" cy="0"/>
          </a:xfrm>
          <a:prstGeom prst="line">
            <a:avLst/>
          </a:prstGeom>
          <a:noFill/>
          <a:ln w="13970">
            <a:solidFill>
              <a:srgbClr val="7F7F7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30352" y="6336792"/>
            <a:ext cx="11109960" cy="0"/>
          </a:xfrm>
          <a:prstGeom prst="line">
            <a:avLst/>
          </a:prstGeom>
          <a:noFill/>
          <a:ln w="13970">
            <a:solidFill>
              <a:srgbClr val="7F7F7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201400" y="6419088"/>
            <a:ext cx="45720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r">
              <a:lnSpc>
                <a:spcPct val="95000"/>
              </a:lnSpc>
              <a:buNone/>
            </a:pPr>
            <a:r>
              <a:rPr lang="en-US" sz="8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30352" y="713232"/>
            <a:ext cx="10972800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2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DX Core 4: measure productivity without measuring people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548640" y="1243584"/>
            <a:ext cx="1078992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13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balanced way to understand engineering effectiveness — useful, but too narrow when used alone.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30352" y="1719072"/>
            <a:ext cx="3429000" cy="4315968"/>
          </a:xfrm>
          <a:prstGeom prst="roundRect">
            <a:avLst>
              <a:gd name="adj" fmla="val 1333"/>
            </a:avLst>
          </a:prstGeom>
          <a:solidFill>
            <a:srgbClr val="F7F9FB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1828800"/>
            <a:ext cx="292608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DX Core 4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77240" y="2212848"/>
            <a:ext cx="2880360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13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 productivity was often inferred from what systems exposed: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822960" y="2862072"/>
            <a:ext cx="64008" cy="64008"/>
          </a:xfrm>
          <a:prstGeom prst="ellipse">
            <a:avLst/>
          </a:prstGeom>
          <a:solidFill>
            <a:srgbClr val="7F7F7F"/>
          </a:solidFill>
          <a:ln w="12700">
            <a:solidFill>
              <a:srgbClr val="7F7F7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41832" y="2788920"/>
            <a:ext cx="2670048" cy="4160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PRs, commits, diffs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822960" y="3278124"/>
            <a:ext cx="64008" cy="64008"/>
          </a:xfrm>
          <a:prstGeom prst="ellipse">
            <a:avLst/>
          </a:prstGeom>
          <a:solidFill>
            <a:srgbClr val="7F7F7F"/>
          </a:solidFill>
          <a:ln w="12700">
            <a:solidFill>
              <a:srgbClr val="7F7F7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41832" y="3204972"/>
            <a:ext cx="2670048" cy="4160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Deployment counts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822960" y="3694176"/>
            <a:ext cx="64008" cy="64008"/>
          </a:xfrm>
          <a:prstGeom prst="ellipse">
            <a:avLst/>
          </a:prstGeom>
          <a:solidFill>
            <a:srgbClr val="7F7F7F"/>
          </a:solidFill>
          <a:ln w="12700">
            <a:solidFill>
              <a:srgbClr val="7F7F7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41832" y="3621024"/>
            <a:ext cx="2670048" cy="4160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Incident / defect counts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822960" y="4110228"/>
            <a:ext cx="64008" cy="64008"/>
          </a:xfrm>
          <a:prstGeom prst="ellipse">
            <a:avLst/>
          </a:prstGeom>
          <a:solidFill>
            <a:srgbClr val="7F7F7F"/>
          </a:solidFill>
          <a:ln w="12700">
            <a:solidFill>
              <a:srgbClr val="7F7F7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41832" y="4037076"/>
            <a:ext cx="2670048" cy="4160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Survey sentiment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777240" y="4983480"/>
            <a:ext cx="2880360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 lnSpcReduction="10000"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1350" i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Useful — but only if treated as signals, not a scorecard for individuals.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4224528" y="1719072"/>
            <a:ext cx="3383280" cy="4315968"/>
          </a:xfrm>
          <a:prstGeom prst="roundRect">
            <a:avLst>
              <a:gd name="adj" fmla="val 1351"/>
            </a:avLst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480560" y="1828800"/>
            <a:ext cx="283464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1800" b="1" dirty="0">
                <a:solidFill>
                  <a:srgbClr val="C437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measurement trap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4663440" y="2505456"/>
            <a:ext cx="2468880" cy="329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More output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4663440" y="2944368"/>
            <a:ext cx="2468880" cy="4206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 lnSpcReduction="10000"/>
          </a:bodyPr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3200" b="1" dirty="0">
                <a:solidFill>
                  <a:srgbClr val="C437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≠</a:t>
            </a:r>
            <a:endParaRPr lang="en-US" sz="3200" dirty="0"/>
          </a:p>
        </p:txBody>
      </p:sp>
      <p:sp>
        <p:nvSpPr>
          <p:cNvPr id="26" name="Text 24"/>
          <p:cNvSpPr/>
          <p:nvPr/>
        </p:nvSpPr>
        <p:spPr>
          <a:xfrm>
            <a:off x="4663440" y="3493008"/>
            <a:ext cx="2468880" cy="329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better productivity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4572000" y="4343400"/>
            <a:ext cx="2651760" cy="7772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3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single number can be gamed. The goal is to improve the system — not optimise the metric.</a:t>
            </a:r>
            <a:endParaRPr lang="en-US" sz="1350" dirty="0"/>
          </a:p>
        </p:txBody>
      </p:sp>
      <p:sp>
        <p:nvSpPr>
          <p:cNvPr id="28" name="Shape 26"/>
          <p:cNvSpPr/>
          <p:nvPr/>
        </p:nvSpPr>
        <p:spPr>
          <a:xfrm>
            <a:off x="7882128" y="1719072"/>
            <a:ext cx="3749040" cy="4315968"/>
          </a:xfrm>
          <a:prstGeom prst="roundRect">
            <a:avLst>
              <a:gd name="adj" fmla="val 1220"/>
            </a:avLst>
          </a:prstGeom>
          <a:solidFill>
            <a:srgbClr val="DCEEFF"/>
          </a:solidFill>
          <a:ln w="12700">
            <a:solidFill>
              <a:srgbClr val="5AAAE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138160" y="1810512"/>
            <a:ext cx="3291840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1700" b="1" dirty="0">
                <a:solidFill>
                  <a:srgbClr val="005A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DX Core 4 balances four lenses</a:t>
            </a:r>
            <a:endParaRPr lang="en-US" sz="1700" dirty="0"/>
          </a:p>
        </p:txBody>
      </p:sp>
      <p:sp>
        <p:nvSpPr>
          <p:cNvPr id="30" name="Shape 28"/>
          <p:cNvSpPr/>
          <p:nvPr/>
        </p:nvSpPr>
        <p:spPr>
          <a:xfrm>
            <a:off x="8165592" y="2359152"/>
            <a:ext cx="1508760" cy="896112"/>
          </a:xfrm>
          <a:prstGeom prst="roundRect">
            <a:avLst>
              <a:gd name="adj" fmla="val 5102"/>
            </a:avLst>
          </a:prstGeom>
          <a:solidFill>
            <a:srgbClr val="F0F8FF"/>
          </a:solidFill>
          <a:ln w="12700">
            <a:solidFill>
              <a:srgbClr val="005A9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293608" y="2450592"/>
            <a:ext cx="1252728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005A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Speed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8293608" y="2715768"/>
            <a:ext cx="1252728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quickly work reaches users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9811512" y="2359152"/>
            <a:ext cx="1508760" cy="896112"/>
          </a:xfrm>
          <a:prstGeom prst="roundRect">
            <a:avLst>
              <a:gd name="adj" fmla="val 5102"/>
            </a:avLst>
          </a:prstGeom>
          <a:solidFill>
            <a:srgbClr val="F0F8FF"/>
          </a:solidFill>
          <a:ln w="12700">
            <a:solidFill>
              <a:srgbClr val="009FD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939528" y="2450592"/>
            <a:ext cx="1252728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009F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Effectiveness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9939528" y="2715768"/>
            <a:ext cx="1252728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 lnSpcReduction="10000"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developers work with less friction?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8165592" y="3456432"/>
            <a:ext cx="1508760" cy="896112"/>
          </a:xfrm>
          <a:prstGeom prst="roundRect">
            <a:avLst>
              <a:gd name="adj" fmla="val 5102"/>
            </a:avLst>
          </a:prstGeom>
          <a:solidFill>
            <a:srgbClr val="F2FBF8"/>
          </a:solidFill>
          <a:ln w="12700">
            <a:solidFill>
              <a:srgbClr val="40BFA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293608" y="3547872"/>
            <a:ext cx="1252728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40B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Quality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8293608" y="3813048"/>
            <a:ext cx="1252728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Are changes reliable and safe?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9811512" y="3456432"/>
            <a:ext cx="1508760" cy="896112"/>
          </a:xfrm>
          <a:prstGeom prst="roundRect">
            <a:avLst>
              <a:gd name="adj" fmla="val 5102"/>
            </a:avLst>
          </a:prstGeom>
          <a:solidFill>
            <a:srgbClr val="F4F3FE"/>
          </a:solidFill>
          <a:ln w="12700">
            <a:solidFill>
              <a:srgbClr val="6B6DB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9939528" y="3547872"/>
            <a:ext cx="1252728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 fontScale="92500"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6B6D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Impact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9939528" y="3813048"/>
            <a:ext cx="1252728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engineering creating value?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8156448" y="4892040"/>
            <a:ext cx="3246120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126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Atlassian connection: Atlassian completed its acquisition of DX in Nov 2025, positioning DX as engineering intelligence for AI-era delivery.</a:t>
            </a:r>
            <a:endParaRPr lang="en-US" sz="126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164592"/>
            <a:ext cx="228600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Morgan Stanley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8732520" y="201168"/>
            <a:ext cx="256032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r">
              <a:lnSpc>
                <a:spcPct val="95000"/>
              </a:lnSpc>
              <a:buNone/>
            </a:pPr>
            <a:r>
              <a:rPr lang="en-US" sz="9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 Productivity | DX Core 4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30352" y="566928"/>
            <a:ext cx="11109960" cy="0"/>
          </a:xfrm>
          <a:prstGeom prst="line">
            <a:avLst/>
          </a:prstGeom>
          <a:noFill/>
          <a:ln w="13970">
            <a:solidFill>
              <a:srgbClr val="7F7F7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30352" y="6336792"/>
            <a:ext cx="11109960" cy="0"/>
          </a:xfrm>
          <a:prstGeom prst="line">
            <a:avLst/>
          </a:prstGeom>
          <a:noFill/>
          <a:ln w="13970">
            <a:solidFill>
              <a:srgbClr val="7F7F7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201400" y="6419088"/>
            <a:ext cx="45720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r">
              <a:lnSpc>
                <a:spcPct val="95000"/>
              </a:lnSpc>
              <a:buNone/>
            </a:pPr>
            <a:r>
              <a:rPr lang="en-US" sz="8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30352" y="713232"/>
            <a:ext cx="10972800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2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Developer Experience: the leading indicator to improve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548640" y="1243584"/>
            <a:ext cx="1078992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13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DevEx asks: how easy is it for capable developers to do excellent work?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30352" y="1673352"/>
            <a:ext cx="5257800" cy="4334256"/>
          </a:xfrm>
          <a:prstGeom prst="roundRect">
            <a:avLst>
              <a:gd name="adj" fmla="val 1055"/>
            </a:avLst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04672" y="1783080"/>
            <a:ext cx="448056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1700" b="1" dirty="0">
                <a:solidFill>
                  <a:srgbClr val="005A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reassurance message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804672" y="2176272"/>
            <a:ext cx="4480560" cy="8412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 fontScale="92500"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not about ranking individual developers. It is about finding friction in the system and removing it.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804672" y="3273552"/>
            <a:ext cx="4434840" cy="868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15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Productivity includes waiting, searching, reviewing, understanding, testing, recovering and coordinating — not just “coding time”.</a:t>
            </a:r>
            <a:endParaRPr lang="en-US" sz="1550" dirty="0"/>
          </a:p>
        </p:txBody>
      </p:sp>
      <p:sp>
        <p:nvSpPr>
          <p:cNvPr id="14" name="Shape 12"/>
          <p:cNvSpPr/>
          <p:nvPr/>
        </p:nvSpPr>
        <p:spPr>
          <a:xfrm>
            <a:off x="804672" y="4599432"/>
            <a:ext cx="4480560" cy="713232"/>
          </a:xfrm>
          <a:prstGeom prst="roundRect">
            <a:avLst>
              <a:gd name="adj" fmla="val 6410"/>
            </a:avLst>
          </a:prstGeom>
          <a:solidFill>
            <a:srgbClr val="FFF4D6"/>
          </a:solidFill>
          <a:ln w="12700">
            <a:solidFill>
              <a:srgbClr val="DDAA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60120" y="4736592"/>
            <a:ext cx="416052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 fontScale="92500"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148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principle: what is good for developers and what is good for the business must be balanced.</a:t>
            </a:r>
            <a:endParaRPr lang="en-US" sz="1480" dirty="0"/>
          </a:p>
        </p:txBody>
      </p:sp>
      <p:sp>
        <p:nvSpPr>
          <p:cNvPr id="16" name="Shape 14"/>
          <p:cNvSpPr/>
          <p:nvPr/>
        </p:nvSpPr>
        <p:spPr>
          <a:xfrm>
            <a:off x="6172200" y="1673352"/>
            <a:ext cx="5468112" cy="1024128"/>
          </a:xfrm>
          <a:prstGeom prst="roundRect">
            <a:avLst>
              <a:gd name="adj" fmla="val 4464"/>
            </a:avLst>
          </a:prstGeom>
          <a:solidFill>
            <a:srgbClr val="DCEEFF"/>
          </a:solidFill>
          <a:ln w="12700">
            <a:solidFill>
              <a:srgbClr val="79B7E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0" y="1764792"/>
            <a:ext cx="493776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 lnSpcReduction="10000"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1700" b="1" dirty="0">
                <a:solidFill>
                  <a:srgbClr val="005A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Feedback loops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6400800" y="2057400"/>
            <a:ext cx="493776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 fontScale="92500" lnSpcReduction="10000"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quickly developers get useful responses: builds, tests, reviews, environments and production signals.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172200" y="2779776"/>
            <a:ext cx="5468112" cy="1024128"/>
          </a:xfrm>
          <a:prstGeom prst="roundRect">
            <a:avLst>
              <a:gd name="adj" fmla="val 4464"/>
            </a:avLst>
          </a:prstGeom>
          <a:solidFill>
            <a:srgbClr val="E0F6F2"/>
          </a:solidFill>
          <a:ln w="12700">
            <a:solidFill>
              <a:srgbClr val="71CDB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0" y="2971800"/>
            <a:ext cx="493776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 lnSpcReduction="10000"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1700" b="1" dirty="0">
                <a:solidFill>
                  <a:srgbClr val="158C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Cognitive load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6400800" y="3264408"/>
            <a:ext cx="493776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 fontScale="92500" lnSpcReduction="10000"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much effort is wasted on unclear requirements, weak documentation, complex systems or fragmented tools.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6172200" y="3986784"/>
            <a:ext cx="5468112" cy="1024128"/>
          </a:xfrm>
          <a:prstGeom prst="roundRect">
            <a:avLst>
              <a:gd name="adj" fmla="val 4464"/>
            </a:avLst>
          </a:prstGeom>
          <a:solidFill>
            <a:srgbClr val="EDECFB"/>
          </a:solidFill>
          <a:ln w="12700">
            <a:solidFill>
              <a:srgbClr val="908FE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0" y="4178808"/>
            <a:ext cx="493776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 lnSpcReduction="10000"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1700" b="1" dirty="0">
                <a:solidFill>
                  <a:srgbClr val="6B6D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Flow state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6400800" y="4471416"/>
            <a:ext cx="493776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 fontScale="92500" lnSpcReduction="10000"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often developers get protected time for deep work without avoidable interruptions and context switching.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6291072" y="5321808"/>
            <a:ext cx="516636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 fontScale="92500"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122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 responsibly: combine system metrics, self-reported metrics and targeted experience sampling — then explain what is collected, why and how it will be used.</a:t>
            </a:r>
            <a:endParaRPr lang="en-US" sz="122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164592"/>
            <a:ext cx="228600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Morgan Stanley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8732520" y="201168"/>
            <a:ext cx="256032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r">
              <a:lnSpc>
                <a:spcPct val="95000"/>
              </a:lnSpc>
              <a:buNone/>
            </a:pPr>
            <a:r>
              <a:rPr lang="en-US" sz="9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 Productivity | DX Core 4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30352" y="566928"/>
            <a:ext cx="11109960" cy="0"/>
          </a:xfrm>
          <a:prstGeom prst="line">
            <a:avLst/>
          </a:prstGeom>
          <a:noFill/>
          <a:ln w="13970">
            <a:solidFill>
              <a:srgbClr val="7F7F7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30352" y="6336792"/>
            <a:ext cx="11109960" cy="0"/>
          </a:xfrm>
          <a:prstGeom prst="line">
            <a:avLst/>
          </a:prstGeom>
          <a:noFill/>
          <a:ln w="13970">
            <a:solidFill>
              <a:srgbClr val="7F7F7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201400" y="6419088"/>
            <a:ext cx="45720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r">
              <a:lnSpc>
                <a:spcPct val="95000"/>
              </a:lnSpc>
              <a:buNone/>
            </a:pPr>
            <a:r>
              <a:rPr lang="en-US" sz="8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30352" y="713232"/>
            <a:ext cx="10972800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2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DORA + SAFe + SPACE + DevEx → DX Core 4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548640" y="1243584"/>
            <a:ext cx="1078992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13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framework is valuable. DX Core 4 creates one balanced conversation across them.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30352" y="1508760"/>
            <a:ext cx="5257800" cy="82296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1627632"/>
            <a:ext cx="105156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 lnSpcReduction="10000"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1550" b="1" dirty="0">
                <a:solidFill>
                  <a:srgbClr val="005A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DORA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1947672" y="1609344"/>
            <a:ext cx="333756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Delivery speed and stability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1947672" y="1929384"/>
            <a:ext cx="3520440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 fontScale="85000" lnSpcReduction="20000"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118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 time, deployment frequency, change failure rate, recovery time</a:t>
            </a:r>
            <a:endParaRPr lang="en-US" sz="1180" dirty="0"/>
          </a:p>
        </p:txBody>
      </p:sp>
      <p:sp>
        <p:nvSpPr>
          <p:cNvPr id="14" name="Shape 12"/>
          <p:cNvSpPr/>
          <p:nvPr/>
        </p:nvSpPr>
        <p:spPr>
          <a:xfrm>
            <a:off x="530352" y="2551176"/>
            <a:ext cx="5257800" cy="82296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2670048"/>
            <a:ext cx="105156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 lnSpcReduction="10000"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1550" b="1" dirty="0">
                <a:solidFill>
                  <a:srgbClr val="009F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 Flow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1947672" y="2651760"/>
            <a:ext cx="333756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value flows through the system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1947672" y="2971800"/>
            <a:ext cx="3520440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 fontScale="85000" lnSpcReduction="10000"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118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Flow velocity, time, load, efficiency, distribution, predictability</a:t>
            </a:r>
            <a:endParaRPr lang="en-US" sz="1180" dirty="0"/>
          </a:p>
        </p:txBody>
      </p:sp>
      <p:sp>
        <p:nvSpPr>
          <p:cNvPr id="18" name="Shape 16"/>
          <p:cNvSpPr/>
          <p:nvPr/>
        </p:nvSpPr>
        <p:spPr>
          <a:xfrm>
            <a:off x="530352" y="3593592"/>
            <a:ext cx="5257800" cy="82296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1520" y="3712464"/>
            <a:ext cx="105156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 lnSpcReduction="10000"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1550" b="1" dirty="0">
                <a:solidFill>
                  <a:srgbClr val="40B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SPACE</a:t>
            </a:r>
            <a:endParaRPr lang="en-US" sz="1550" dirty="0"/>
          </a:p>
        </p:txBody>
      </p:sp>
      <p:sp>
        <p:nvSpPr>
          <p:cNvPr id="20" name="Text 18"/>
          <p:cNvSpPr/>
          <p:nvPr/>
        </p:nvSpPr>
        <p:spPr>
          <a:xfrm>
            <a:off x="1947672" y="3694176"/>
            <a:ext cx="333756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Multi-dimensional productivity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1947672" y="4014216"/>
            <a:ext cx="3520440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 fontScale="85000" lnSpcReduction="20000"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118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Satisfaction, performance, activity, collaboration, efficiency / flow</a:t>
            </a:r>
            <a:endParaRPr lang="en-US" sz="1180" dirty="0"/>
          </a:p>
        </p:txBody>
      </p:sp>
      <p:sp>
        <p:nvSpPr>
          <p:cNvPr id="22" name="Shape 20"/>
          <p:cNvSpPr/>
          <p:nvPr/>
        </p:nvSpPr>
        <p:spPr>
          <a:xfrm>
            <a:off x="530352" y="4636008"/>
            <a:ext cx="5257800" cy="82296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31520" y="4754880"/>
            <a:ext cx="105156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 lnSpcReduction="10000"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1550" b="1" dirty="0">
                <a:solidFill>
                  <a:srgbClr val="6B6D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DevEx</a:t>
            </a:r>
            <a:endParaRPr lang="en-US" sz="1550" dirty="0"/>
          </a:p>
        </p:txBody>
      </p:sp>
      <p:sp>
        <p:nvSpPr>
          <p:cNvPr id="24" name="Text 22"/>
          <p:cNvSpPr/>
          <p:nvPr/>
        </p:nvSpPr>
        <p:spPr>
          <a:xfrm>
            <a:off x="1947672" y="4736592"/>
            <a:ext cx="333756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developers experience</a:t>
            </a:r>
            <a:endParaRPr lang="en-US" sz="1450" dirty="0"/>
          </a:p>
        </p:txBody>
      </p:sp>
      <p:sp>
        <p:nvSpPr>
          <p:cNvPr id="25" name="Text 23"/>
          <p:cNvSpPr/>
          <p:nvPr/>
        </p:nvSpPr>
        <p:spPr>
          <a:xfrm>
            <a:off x="1947672" y="5056632"/>
            <a:ext cx="3520440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118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Feedback loops, cognitive load, flow state</a:t>
            </a:r>
            <a:endParaRPr lang="en-US" sz="1180" dirty="0"/>
          </a:p>
        </p:txBody>
      </p:sp>
      <p:sp>
        <p:nvSpPr>
          <p:cNvPr id="26" name="Shape 24"/>
          <p:cNvSpPr/>
          <p:nvPr/>
        </p:nvSpPr>
        <p:spPr>
          <a:xfrm>
            <a:off x="6126480" y="1508760"/>
            <a:ext cx="5504688" cy="4553712"/>
          </a:xfrm>
          <a:prstGeom prst="roundRect">
            <a:avLst>
              <a:gd name="adj" fmla="val 1004"/>
            </a:avLst>
          </a:prstGeom>
          <a:solidFill>
            <a:srgbClr val="DCEEFF"/>
          </a:solidFill>
          <a:ln w="12700">
            <a:solidFill>
              <a:srgbClr val="72B6E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19088" y="1737360"/>
            <a:ext cx="489204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1750" b="1" dirty="0">
                <a:solidFill>
                  <a:srgbClr val="005A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DX Core 4 — four counter-balanced outcomes</a:t>
            </a:r>
            <a:endParaRPr lang="en-US" sz="1750" dirty="0"/>
          </a:p>
        </p:txBody>
      </p:sp>
      <p:sp>
        <p:nvSpPr>
          <p:cNvPr id="28" name="Shape 26"/>
          <p:cNvSpPr/>
          <p:nvPr/>
        </p:nvSpPr>
        <p:spPr>
          <a:xfrm>
            <a:off x="6419088" y="2331720"/>
            <a:ext cx="2267712" cy="960120"/>
          </a:xfrm>
          <a:prstGeom prst="roundRect">
            <a:avLst>
              <a:gd name="adj" fmla="val 4762"/>
            </a:avLst>
          </a:prstGeom>
          <a:solidFill>
            <a:srgbClr val="F0F8FF"/>
          </a:solidFill>
          <a:ln w="12700">
            <a:solidFill>
              <a:srgbClr val="005A9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547104" y="2423160"/>
            <a:ext cx="201168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005A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Speed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547104" y="2688336"/>
            <a:ext cx="2011680" cy="5212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 time + deployment frequency + PR/MR throughput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9015984" y="2331720"/>
            <a:ext cx="2267712" cy="960120"/>
          </a:xfrm>
          <a:prstGeom prst="roundRect">
            <a:avLst>
              <a:gd name="adj" fmla="val 4762"/>
            </a:avLst>
          </a:prstGeom>
          <a:solidFill>
            <a:srgbClr val="F0F8FF"/>
          </a:solidFill>
          <a:ln w="12700">
            <a:solidFill>
              <a:srgbClr val="009FD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144000" y="2423160"/>
            <a:ext cx="201168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009F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Effectiveness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9144000" y="2688336"/>
            <a:ext cx="2011680" cy="5212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DXI + ease of delivery + time to first contribution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419088" y="3584448"/>
            <a:ext cx="2267712" cy="960120"/>
          </a:xfrm>
          <a:prstGeom prst="roundRect">
            <a:avLst>
              <a:gd name="adj" fmla="val 4762"/>
            </a:avLst>
          </a:prstGeom>
          <a:solidFill>
            <a:srgbClr val="F2FBF8"/>
          </a:solidFill>
          <a:ln w="12700">
            <a:solidFill>
              <a:srgbClr val="40BFA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547104" y="3675888"/>
            <a:ext cx="201168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40B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Quality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6547104" y="3941064"/>
            <a:ext cx="2011680" cy="5212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 fail % + incidents + security / reliability signals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9015984" y="3584448"/>
            <a:ext cx="2267712" cy="960120"/>
          </a:xfrm>
          <a:prstGeom prst="roundRect">
            <a:avLst>
              <a:gd name="adj" fmla="val 4762"/>
            </a:avLst>
          </a:prstGeom>
          <a:solidFill>
            <a:srgbClr val="F4F3FE"/>
          </a:solidFill>
          <a:ln w="12700">
            <a:solidFill>
              <a:srgbClr val="6B6DB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144000" y="3675888"/>
            <a:ext cx="201168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6B6D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Impact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9144000" y="3941064"/>
            <a:ext cx="2011680" cy="5212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Innovation ratio + initiative progress + customer / revenue signals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6419088" y="4983480"/>
            <a:ext cx="4864608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629400" y="5138928"/>
            <a:ext cx="4443984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 fontScale="62500" lnSpcReduction="20000"/>
          </a:bodyPr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38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question: what changed across all four lenses after the improvement?</a:t>
            </a:r>
            <a:endParaRPr lang="en-US" sz="138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164592"/>
            <a:ext cx="228600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Morgan Stanley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8732520" y="201168"/>
            <a:ext cx="256032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r">
              <a:lnSpc>
                <a:spcPct val="95000"/>
              </a:lnSpc>
              <a:buNone/>
            </a:pPr>
            <a:r>
              <a:rPr lang="en-US" sz="9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 Productivity | DX Core 4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30352" y="566928"/>
            <a:ext cx="11109960" cy="0"/>
          </a:xfrm>
          <a:prstGeom prst="line">
            <a:avLst/>
          </a:prstGeom>
          <a:noFill/>
          <a:ln w="13970">
            <a:solidFill>
              <a:srgbClr val="7F7F7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30352" y="6336792"/>
            <a:ext cx="11109960" cy="0"/>
          </a:xfrm>
          <a:prstGeom prst="line">
            <a:avLst/>
          </a:prstGeom>
          <a:noFill/>
          <a:ln w="13970">
            <a:solidFill>
              <a:srgbClr val="7F7F7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201400" y="6419088"/>
            <a:ext cx="45720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r">
              <a:lnSpc>
                <a:spcPct val="95000"/>
              </a:lnSpc>
              <a:buNone/>
            </a:pPr>
            <a:r>
              <a:rPr lang="en-US" sz="8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30352" y="713232"/>
            <a:ext cx="10972800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2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era: combine Human DevEx + Agent Experience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548640" y="1243584"/>
            <a:ext cx="1078992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13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measurement must move beyond adoption counts to outcomes, quality and trust.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30352" y="1673352"/>
            <a:ext cx="3246120" cy="4315968"/>
          </a:xfrm>
          <a:prstGeom prst="roundRect">
            <a:avLst>
              <a:gd name="adj" fmla="val 1408"/>
            </a:avLst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1783080"/>
            <a:ext cx="274320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 fontScale="85000" lnSpcReduction="10000"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adoption metrics are a start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850392" y="2404872"/>
            <a:ext cx="64008" cy="64008"/>
          </a:xfrm>
          <a:prstGeom prst="ellipse">
            <a:avLst/>
          </a:prstGeom>
          <a:solidFill>
            <a:srgbClr val="005A9C"/>
          </a:solidFill>
          <a:ln w="12700">
            <a:solidFill>
              <a:srgbClr val="005A9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9264" y="2331720"/>
            <a:ext cx="2487168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144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Daily / weekly active users</a:t>
            </a:r>
            <a:endParaRPr lang="en-US" sz="1440" dirty="0"/>
          </a:p>
        </p:txBody>
      </p:sp>
      <p:sp>
        <p:nvSpPr>
          <p:cNvPr id="14" name="Shape 12"/>
          <p:cNvSpPr/>
          <p:nvPr/>
        </p:nvSpPr>
        <p:spPr>
          <a:xfrm>
            <a:off x="850392" y="2788920"/>
            <a:ext cx="64008" cy="64008"/>
          </a:xfrm>
          <a:prstGeom prst="ellipse">
            <a:avLst/>
          </a:prstGeom>
          <a:solidFill>
            <a:srgbClr val="005A9C"/>
          </a:solidFill>
          <a:ln w="12700">
            <a:solidFill>
              <a:srgbClr val="005A9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69264" y="2715768"/>
            <a:ext cx="2487168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144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% PRs AI-assisted</a:t>
            </a:r>
            <a:endParaRPr lang="en-US" sz="1440" dirty="0"/>
          </a:p>
        </p:txBody>
      </p:sp>
      <p:sp>
        <p:nvSpPr>
          <p:cNvPr id="16" name="Shape 14"/>
          <p:cNvSpPr/>
          <p:nvPr/>
        </p:nvSpPr>
        <p:spPr>
          <a:xfrm>
            <a:off x="850392" y="3172968"/>
            <a:ext cx="64008" cy="64008"/>
          </a:xfrm>
          <a:prstGeom prst="ellipse">
            <a:avLst/>
          </a:prstGeom>
          <a:solidFill>
            <a:srgbClr val="005A9C"/>
          </a:solidFill>
          <a:ln w="12700">
            <a:solidFill>
              <a:srgbClr val="005A9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69264" y="3099816"/>
            <a:ext cx="2487168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 lnSpcReduction="10000"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144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% AI-generated code in production</a:t>
            </a:r>
            <a:endParaRPr lang="en-US" sz="1440" dirty="0"/>
          </a:p>
        </p:txBody>
      </p:sp>
      <p:sp>
        <p:nvSpPr>
          <p:cNvPr id="18" name="Shape 16"/>
          <p:cNvSpPr/>
          <p:nvPr/>
        </p:nvSpPr>
        <p:spPr>
          <a:xfrm>
            <a:off x="850392" y="3557016"/>
            <a:ext cx="64008" cy="64008"/>
          </a:xfrm>
          <a:prstGeom prst="ellipse">
            <a:avLst/>
          </a:prstGeom>
          <a:solidFill>
            <a:srgbClr val="005A9C"/>
          </a:solidFill>
          <a:ln w="12700">
            <a:solidFill>
              <a:srgbClr val="005A9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69264" y="3483864"/>
            <a:ext cx="2487168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144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Tasks assigned to agents</a:t>
            </a:r>
            <a:endParaRPr lang="en-US" sz="1440" dirty="0"/>
          </a:p>
        </p:txBody>
      </p:sp>
      <p:sp>
        <p:nvSpPr>
          <p:cNvPr id="20" name="Shape 18"/>
          <p:cNvSpPr/>
          <p:nvPr/>
        </p:nvSpPr>
        <p:spPr>
          <a:xfrm>
            <a:off x="850392" y="3941064"/>
            <a:ext cx="64008" cy="64008"/>
          </a:xfrm>
          <a:prstGeom prst="ellipse">
            <a:avLst/>
          </a:prstGeom>
          <a:solidFill>
            <a:srgbClr val="005A9C"/>
          </a:solidFill>
          <a:ln w="12700">
            <a:solidFill>
              <a:srgbClr val="005A9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69264" y="3867912"/>
            <a:ext cx="2487168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144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and token usage</a:t>
            </a:r>
            <a:endParaRPr lang="en-US" sz="1440" dirty="0"/>
          </a:p>
        </p:txBody>
      </p:sp>
      <p:sp>
        <p:nvSpPr>
          <p:cNvPr id="22" name="Text 20"/>
          <p:cNvSpPr/>
          <p:nvPr/>
        </p:nvSpPr>
        <p:spPr>
          <a:xfrm>
            <a:off x="795528" y="4690872"/>
            <a:ext cx="2743200" cy="329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 fontScale="92500" lnSpcReduction="20000"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1420" b="1" dirty="0">
                <a:solidFill>
                  <a:srgbClr val="C437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But adoption alone does not prove value.</a:t>
            </a:r>
            <a:endParaRPr lang="en-US" sz="1420" dirty="0"/>
          </a:p>
        </p:txBody>
      </p:sp>
      <p:sp>
        <p:nvSpPr>
          <p:cNvPr id="23" name="Text 21"/>
          <p:cNvSpPr/>
          <p:nvPr/>
        </p:nvSpPr>
        <p:spPr>
          <a:xfrm>
            <a:off x="795528" y="5074920"/>
            <a:ext cx="274320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 fontScale="92500" lnSpcReduction="10000"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132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Better question: did AI improve the Core 4 outcomes without damaging quality or developer trust?</a:t>
            </a:r>
            <a:endParaRPr lang="en-US" sz="1320" dirty="0"/>
          </a:p>
        </p:txBody>
      </p:sp>
      <p:sp>
        <p:nvSpPr>
          <p:cNvPr id="24" name="Shape 22"/>
          <p:cNvSpPr/>
          <p:nvPr/>
        </p:nvSpPr>
        <p:spPr>
          <a:xfrm>
            <a:off x="4069080" y="1673352"/>
            <a:ext cx="3337560" cy="4315968"/>
          </a:xfrm>
          <a:prstGeom prst="roundRect">
            <a:avLst>
              <a:gd name="adj" fmla="val 1370"/>
            </a:avLst>
          </a:prstGeom>
          <a:solidFill>
            <a:srgbClr val="DCEEFF"/>
          </a:solidFill>
          <a:ln w="12700">
            <a:solidFill>
              <a:srgbClr val="72B6E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325112" y="1783080"/>
            <a:ext cx="278892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1700" b="1" dirty="0">
                <a:solidFill>
                  <a:srgbClr val="005A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 DevEx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4325112" y="2240280"/>
            <a:ext cx="269748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 fontScale="92500" lnSpcReduction="20000"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152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developers understand, trust, review and safely use AI output?</a:t>
            </a:r>
            <a:endParaRPr lang="en-US" sz="1520" dirty="0"/>
          </a:p>
        </p:txBody>
      </p:sp>
      <p:sp>
        <p:nvSpPr>
          <p:cNvPr id="27" name="Text 25"/>
          <p:cNvSpPr/>
          <p:nvPr/>
        </p:nvSpPr>
        <p:spPr>
          <a:xfrm>
            <a:off x="4325112" y="2999232"/>
            <a:ext cx="269748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 with:</a:t>
            </a:r>
            <a:endParaRPr lang="en-US" sz="1350" dirty="0"/>
          </a:p>
        </p:txBody>
      </p:sp>
      <p:sp>
        <p:nvSpPr>
          <p:cNvPr id="28" name="Shape 26"/>
          <p:cNvSpPr/>
          <p:nvPr/>
        </p:nvSpPr>
        <p:spPr>
          <a:xfrm>
            <a:off x="4407408" y="3474720"/>
            <a:ext cx="64008" cy="64008"/>
          </a:xfrm>
          <a:prstGeom prst="ellipse">
            <a:avLst/>
          </a:prstGeom>
          <a:solidFill>
            <a:srgbClr val="005A9C"/>
          </a:solidFill>
          <a:ln w="12700">
            <a:solidFill>
              <a:srgbClr val="005A9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26280" y="3401568"/>
            <a:ext cx="2441448" cy="3017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DXI / pulse surveys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4407408" y="3776472"/>
            <a:ext cx="64008" cy="64008"/>
          </a:xfrm>
          <a:prstGeom prst="ellipse">
            <a:avLst/>
          </a:prstGeom>
          <a:solidFill>
            <a:srgbClr val="005A9C"/>
          </a:solidFill>
          <a:ln w="12700">
            <a:solidFill>
              <a:srgbClr val="005A9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26280" y="3703320"/>
            <a:ext cx="2441448" cy="3017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Experience sampling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4407408" y="4078224"/>
            <a:ext cx="64008" cy="64008"/>
          </a:xfrm>
          <a:prstGeom prst="ellipse">
            <a:avLst/>
          </a:prstGeom>
          <a:solidFill>
            <a:srgbClr val="005A9C"/>
          </a:solidFill>
          <a:ln w="12700">
            <a:solidFill>
              <a:srgbClr val="005A9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526280" y="4005072"/>
            <a:ext cx="2441448" cy="3017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Hours saved with evidence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4407408" y="4379976"/>
            <a:ext cx="64008" cy="64008"/>
          </a:xfrm>
          <a:prstGeom prst="ellipse">
            <a:avLst/>
          </a:prstGeom>
          <a:solidFill>
            <a:srgbClr val="005A9C"/>
          </a:solidFill>
          <a:ln w="12700">
            <a:solidFill>
              <a:srgbClr val="005A9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26280" y="4306824"/>
            <a:ext cx="2441448" cy="3017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Ease of delivery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4407408" y="4681728"/>
            <a:ext cx="64008" cy="64008"/>
          </a:xfrm>
          <a:prstGeom prst="ellipse">
            <a:avLst/>
          </a:prstGeom>
          <a:solidFill>
            <a:srgbClr val="005A9C"/>
          </a:solidFill>
          <a:ln w="12700">
            <a:solidFill>
              <a:srgbClr val="005A9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526280" y="4608576"/>
            <a:ext cx="2441448" cy="3017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quality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4325112" y="5276088"/>
            <a:ext cx="269748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 fontScale="85000" lnSpcReduction="20000"/>
          </a:bodyPr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320" b="1" dirty="0">
                <a:solidFill>
                  <a:srgbClr val="005A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should remove toil, not remove judgement.</a:t>
            </a:r>
            <a:endParaRPr lang="en-US" sz="1320" dirty="0"/>
          </a:p>
        </p:txBody>
      </p:sp>
      <p:sp>
        <p:nvSpPr>
          <p:cNvPr id="39" name="Shape 37"/>
          <p:cNvSpPr/>
          <p:nvPr/>
        </p:nvSpPr>
        <p:spPr>
          <a:xfrm>
            <a:off x="7726680" y="1673352"/>
            <a:ext cx="3904488" cy="4315968"/>
          </a:xfrm>
          <a:prstGeom prst="roundRect">
            <a:avLst>
              <a:gd name="adj" fmla="val 1171"/>
            </a:avLst>
          </a:prstGeom>
          <a:solidFill>
            <a:srgbClr val="EDECFB"/>
          </a:solidFill>
          <a:ln w="12700">
            <a:solidFill>
              <a:srgbClr val="908FE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982712" y="1783080"/>
            <a:ext cx="329184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1700" b="1" dirty="0">
                <a:solidFill>
                  <a:srgbClr val="6B6D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Experience</a:t>
            </a:r>
            <a:endParaRPr lang="en-US" sz="1700" dirty="0"/>
          </a:p>
        </p:txBody>
      </p:sp>
      <p:sp>
        <p:nvSpPr>
          <p:cNvPr id="41" name="Text 39"/>
          <p:cNvSpPr/>
          <p:nvPr/>
        </p:nvSpPr>
        <p:spPr>
          <a:xfrm>
            <a:off x="7982712" y="2240280"/>
            <a:ext cx="320040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 fontScale="92500"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152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Emerging idea: measure what agents encounter while doing work.</a:t>
            </a:r>
            <a:endParaRPr lang="en-US" sz="1520" dirty="0"/>
          </a:p>
        </p:txBody>
      </p:sp>
      <p:sp>
        <p:nvSpPr>
          <p:cNvPr id="42" name="Text 40"/>
          <p:cNvSpPr/>
          <p:nvPr/>
        </p:nvSpPr>
        <p:spPr>
          <a:xfrm>
            <a:off x="7982712" y="2999232"/>
            <a:ext cx="310896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Practical signals:</a:t>
            </a:r>
            <a:endParaRPr lang="en-US" sz="1350" dirty="0"/>
          </a:p>
        </p:txBody>
      </p:sp>
      <p:sp>
        <p:nvSpPr>
          <p:cNvPr id="43" name="Shape 41"/>
          <p:cNvSpPr/>
          <p:nvPr/>
        </p:nvSpPr>
        <p:spPr>
          <a:xfrm>
            <a:off x="8065008" y="3474720"/>
            <a:ext cx="64008" cy="64008"/>
          </a:xfrm>
          <a:prstGeom prst="ellipse">
            <a:avLst/>
          </a:prstGeom>
          <a:solidFill>
            <a:srgbClr val="6B6DBF"/>
          </a:solidFill>
          <a:ln w="12700">
            <a:solidFill>
              <a:srgbClr val="6B6DB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183880" y="3401568"/>
            <a:ext cx="2944368" cy="3017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Clear intent and specs</a:t>
            </a:r>
            <a:endParaRPr lang="en-US" sz="1300" dirty="0"/>
          </a:p>
        </p:txBody>
      </p:sp>
      <p:sp>
        <p:nvSpPr>
          <p:cNvPr id="45" name="Shape 43"/>
          <p:cNvSpPr/>
          <p:nvPr/>
        </p:nvSpPr>
        <p:spPr>
          <a:xfrm>
            <a:off x="8065008" y="3776472"/>
            <a:ext cx="64008" cy="64008"/>
          </a:xfrm>
          <a:prstGeom prst="ellipse">
            <a:avLst/>
          </a:prstGeom>
          <a:solidFill>
            <a:srgbClr val="6B6DBF"/>
          </a:solidFill>
          <a:ln w="12700">
            <a:solidFill>
              <a:srgbClr val="6B6DBF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183880" y="3703320"/>
            <a:ext cx="2944368" cy="3017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Right context and data</a:t>
            </a:r>
            <a:endParaRPr lang="en-US" sz="1300" dirty="0"/>
          </a:p>
        </p:txBody>
      </p:sp>
      <p:sp>
        <p:nvSpPr>
          <p:cNvPr id="47" name="Shape 45"/>
          <p:cNvSpPr/>
          <p:nvPr/>
        </p:nvSpPr>
        <p:spPr>
          <a:xfrm>
            <a:off x="8065008" y="4078224"/>
            <a:ext cx="64008" cy="64008"/>
          </a:xfrm>
          <a:prstGeom prst="ellipse">
            <a:avLst/>
          </a:prstGeom>
          <a:solidFill>
            <a:srgbClr val="6B6DBF"/>
          </a:solidFill>
          <a:ln w="12700">
            <a:solidFill>
              <a:srgbClr val="6B6DBF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8183880" y="4005072"/>
            <a:ext cx="2944368" cy="3017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 / environment access</a:t>
            </a:r>
            <a:endParaRPr lang="en-US" sz="1300" dirty="0"/>
          </a:p>
        </p:txBody>
      </p:sp>
      <p:sp>
        <p:nvSpPr>
          <p:cNvPr id="49" name="Shape 47"/>
          <p:cNvSpPr/>
          <p:nvPr/>
        </p:nvSpPr>
        <p:spPr>
          <a:xfrm>
            <a:off x="8065008" y="4379976"/>
            <a:ext cx="64008" cy="64008"/>
          </a:xfrm>
          <a:prstGeom prst="ellipse">
            <a:avLst/>
          </a:prstGeom>
          <a:solidFill>
            <a:srgbClr val="6B6DBF"/>
          </a:solidFill>
          <a:ln w="12700">
            <a:solidFill>
              <a:srgbClr val="6B6DBF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8183880" y="4306824"/>
            <a:ext cx="2944368" cy="3017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Evaluation quality</a:t>
            </a:r>
            <a:endParaRPr lang="en-US" sz="1300" dirty="0"/>
          </a:p>
        </p:txBody>
      </p:sp>
      <p:sp>
        <p:nvSpPr>
          <p:cNvPr id="51" name="Shape 49"/>
          <p:cNvSpPr/>
          <p:nvPr/>
        </p:nvSpPr>
        <p:spPr>
          <a:xfrm>
            <a:off x="8065008" y="4681728"/>
            <a:ext cx="64008" cy="64008"/>
          </a:xfrm>
          <a:prstGeom prst="ellipse">
            <a:avLst/>
          </a:prstGeom>
          <a:solidFill>
            <a:srgbClr val="6B6DBF"/>
          </a:solidFill>
          <a:ln w="12700">
            <a:solidFill>
              <a:srgbClr val="6B6DBF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8183880" y="4608576"/>
            <a:ext cx="2944368" cy="3017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 handoff clarity</a:t>
            </a:r>
            <a:endParaRPr lang="en-US" sz="1300" dirty="0"/>
          </a:p>
        </p:txBody>
      </p:sp>
      <p:sp>
        <p:nvSpPr>
          <p:cNvPr id="53" name="Text 51"/>
          <p:cNvSpPr/>
          <p:nvPr/>
        </p:nvSpPr>
        <p:spPr>
          <a:xfrm>
            <a:off x="7982712" y="5276088"/>
            <a:ext cx="320040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 fontScale="85000" lnSpcReduction="10000"/>
          </a:bodyPr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320" b="1" dirty="0">
                <a:solidFill>
                  <a:srgbClr val="6B6D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success depends on system readiness.</a:t>
            </a:r>
            <a:endParaRPr lang="en-US" sz="132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674</Words>
  <Application>Microsoft Office PowerPoint</Application>
  <PresentationFormat>Widescreen</PresentationFormat>
  <Paragraphs>105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>OpenAI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DX Core 4 Engineering Productivity</dc:title>
  <dc:subject>DX Core 4 presentation</dc:subject>
  <dc:creator>OpenAI</dc:creator>
  <cp:lastModifiedBy>Microsoft account</cp:lastModifiedBy>
  <cp:revision>2</cp:revision>
  <dcterms:created xsi:type="dcterms:W3CDTF">2026-06-26T12:07:03Z</dcterms:created>
  <dcterms:modified xsi:type="dcterms:W3CDTF">2026-06-26T12:19:54Z</dcterms:modified>
</cp:coreProperties>
</file>