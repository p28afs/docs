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10795">
            <a:solidFill>
              <a:srgbClr val="7B7B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384048" cy="384048"/>
          </a:xfrm>
          <a:prstGeom prst="ellipse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" y="7315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87552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Engineering vs Harness Engineering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424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sets the trust intent. The other builds the operating system around AI agents.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7B7B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73952"/>
            <a:ext cx="9875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OpenAI Harness Engineering; Martin Fowler / Thoughtworks Harness Engineering. For discussion purposes.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444752"/>
            <a:ext cx="5120640" cy="393192"/>
          </a:xfrm>
          <a:prstGeom prst="rect">
            <a:avLst/>
          </a:prstGeom>
          <a:solidFill>
            <a:srgbClr val="005D87"/>
          </a:solidFill>
          <a:ln w="12700">
            <a:solidFill>
              <a:srgbClr val="005D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554480"/>
            <a:ext cx="4901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Engineering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428232" y="1444752"/>
            <a:ext cx="5120640" cy="393192"/>
          </a:xfrm>
          <a:prstGeom prst="rect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554480"/>
            <a:ext cx="4901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40080" y="2057400"/>
            <a:ext cx="5120640" cy="2880360"/>
          </a:xfrm>
          <a:prstGeom prst="roundRect">
            <a:avLst>
              <a:gd name="adj" fmla="val 635"/>
            </a:avLst>
          </a:prstGeom>
          <a:solidFill>
            <a:srgbClr val="F7F7F7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304288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trusted?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32688" y="2884932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279806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acceptable risk, accountability and oversight.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" y="3323844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236976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Asks: “Are we prepared for AI to be wrong?”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2688" y="3762756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675888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safety, reliability, explainability, privacy and fairness.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2688" y="4201668"/>
            <a:ext cx="68580" cy="68580"/>
          </a:xfrm>
          <a:prstGeom prst="ellipse">
            <a:avLst/>
          </a:prstGeom>
          <a:solidFill>
            <a:srgbClr val="005D8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11480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human judgement and governance in the loop.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2057400"/>
            <a:ext cx="5120640" cy="2880360"/>
          </a:xfrm>
          <a:prstGeom prst="roundRect">
            <a:avLst>
              <a:gd name="adj" fmla="val 635"/>
            </a:avLst>
          </a:prstGeom>
          <a:solidFill>
            <a:srgbClr val="F7F7F7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2304288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make it repeatable?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720840" y="2884932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279806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 the environment around the AI agent.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20840" y="3323844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3236976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the agent trusted context, tools, boundaries and checks.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20840" y="3762756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8856" y="3675888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guidance into enforceable workflows and feedback loops.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20840" y="4201668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411480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risky behaviour easier to catch before it matters.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961888" y="2194560"/>
            <a:ext cx="0" cy="2633472"/>
          </a:xfrm>
          <a:prstGeom prst="line">
            <a:avLst/>
          </a:prstGeom>
          <a:noFill/>
          <a:ln w="15240">
            <a:solidFill>
              <a:srgbClr val="D5D5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5394960"/>
            <a:ext cx="10195560" cy="475488"/>
          </a:xfrm>
          <a:prstGeom prst="roundRect">
            <a:avLst>
              <a:gd name="adj" fmla="val 3846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555955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framing: Trust Engineering says “what good looks like”; Harness Engineering makes “good” the default operating path.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10795">
            <a:solidFill>
              <a:srgbClr val="7B7B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384048" cy="384048"/>
          </a:xfrm>
          <a:prstGeom prst="ellipse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" y="7315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87552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424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side of Trust Engineering: design the environment around AI so good behaviour is easier and risky behaviour is caught.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7B7B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73952"/>
            <a:ext cx="9875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OpenAI Harness Engineering; Martin Fowler / Thoughtworks Harness Engineering. For discussion purposes.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66928" y="1572768"/>
            <a:ext cx="3246120" cy="1024128"/>
          </a:xfrm>
          <a:prstGeom prst="roundRect">
            <a:avLst>
              <a:gd name="adj" fmla="val 3571"/>
            </a:avLst>
          </a:prstGeom>
          <a:solidFill>
            <a:srgbClr val="F7F7F7"/>
          </a:solidFill>
          <a:ln w="15240">
            <a:solidFill>
              <a:srgbClr val="0A7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105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asks AI to be careful.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12140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makes careful the default.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847088"/>
            <a:ext cx="141732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5240">
            <a:solidFill>
              <a:srgbClr val="7B7B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1031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53128" y="2322576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capability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6172200" y="1682496"/>
            <a:ext cx="2057400" cy="1115568"/>
          </a:xfrm>
          <a:prstGeom prst="roundRect">
            <a:avLst>
              <a:gd name="adj" fmla="val 4098"/>
            </a:avLst>
          </a:prstGeom>
          <a:solidFill>
            <a:srgbClr val="F1F1F1"/>
          </a:solidFill>
          <a:ln w="15240">
            <a:solidFill>
              <a:srgbClr val="0A7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9385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80" b="1" dirty="0">
                <a:solidFill>
                  <a:srgbClr val="005D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6382512" y="2286000"/>
            <a:ext cx="1627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tools + checks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686800" y="1847088"/>
            <a:ext cx="214884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5240">
            <a:solidFill>
              <a:srgbClr val="7B7B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207568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workflow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8942832" y="2313432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+ control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5715000" y="2240280"/>
            <a:ext cx="457200" cy="0"/>
          </a:xfrm>
          <a:prstGeom prst="line">
            <a:avLst/>
          </a:prstGeom>
          <a:noFill/>
          <a:ln w="16510">
            <a:solidFill>
              <a:srgbClr val="7B7B7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0" y="2240280"/>
            <a:ext cx="457200" cy="0"/>
          </a:xfrm>
          <a:prstGeom prst="line">
            <a:avLst/>
          </a:prstGeom>
          <a:noFill/>
          <a:ln w="16510">
            <a:solidFill>
              <a:srgbClr val="7B7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" y="3063240"/>
            <a:ext cx="5166360" cy="393192"/>
          </a:xfrm>
          <a:prstGeom prst="rect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172968"/>
            <a:ext cx="4946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harness contains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758952" y="3712464"/>
            <a:ext cx="1463040" cy="50292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5240">
            <a:solidFill>
              <a:srgbClr val="0A7E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3712464"/>
            <a:ext cx="118872" cy="502920"/>
          </a:xfrm>
          <a:prstGeom prst="rect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3877056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context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2395728" y="3712464"/>
            <a:ext cx="1463040" cy="50292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5240">
            <a:solidFill>
              <a:srgbClr val="6B68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95728" y="3712464"/>
            <a:ext cx="118872" cy="502920"/>
          </a:xfrm>
          <a:prstGeom prst="rect">
            <a:avLst/>
          </a:prstGeom>
          <a:solidFill>
            <a:srgbClr val="6B68B8"/>
          </a:solidFill>
          <a:ln w="12700">
            <a:solidFill>
              <a:srgbClr val="6B68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877056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permissions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032504" y="3712464"/>
            <a:ext cx="1463040" cy="50292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5240">
            <a:solidFill>
              <a:srgbClr val="16A7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32504" y="3712464"/>
            <a:ext cx="118872" cy="502920"/>
          </a:xfrm>
          <a:prstGeom prst="rect">
            <a:avLst/>
          </a:prstGeom>
          <a:solidFill>
            <a:srgbClr val="16A7D9"/>
          </a:solidFill>
          <a:ln w="12700">
            <a:solidFill>
              <a:srgbClr val="16A7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42816" y="3877056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gates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758952" y="4453128"/>
            <a:ext cx="1463040" cy="50292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5240">
            <a:solidFill>
              <a:srgbClr val="D49A1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" y="4453128"/>
            <a:ext cx="118872" cy="502920"/>
          </a:xfrm>
          <a:prstGeom prst="rect">
            <a:avLst/>
          </a:prstGeom>
          <a:solidFill>
            <a:srgbClr val="D49A13"/>
          </a:solidFill>
          <a:ln w="12700">
            <a:solidFill>
              <a:srgbClr val="D49A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" y="4617720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2395728" y="4453128"/>
            <a:ext cx="1463040" cy="50292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5240">
            <a:solidFill>
              <a:srgbClr val="B84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95728" y="4453128"/>
            <a:ext cx="118872" cy="502920"/>
          </a:xfrm>
          <a:prstGeom prst="rect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4617720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handoff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032504" y="4453128"/>
            <a:ext cx="1463040" cy="50292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5240">
            <a:solidFill>
              <a:srgbClr val="005D8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32504" y="4453128"/>
            <a:ext cx="118872" cy="502920"/>
          </a:xfrm>
          <a:prstGeom prst="rect">
            <a:avLst/>
          </a:prstGeom>
          <a:solidFill>
            <a:srgbClr val="005D87"/>
          </a:solidFill>
          <a:ln w="12700">
            <a:solidFill>
              <a:srgbClr val="005D8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42816" y="4617720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loops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400800" y="3063240"/>
            <a:ext cx="5074920" cy="393192"/>
          </a:xfrm>
          <a:prstGeom prst="rect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0528" y="3172968"/>
            <a:ext cx="4855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 in practice</a:t>
            </a:r>
            <a:endParaRPr lang="en-US" sz="1260" dirty="0"/>
          </a:p>
        </p:txBody>
      </p:sp>
      <p:sp>
        <p:nvSpPr>
          <p:cNvPr id="47" name="Shape 45"/>
          <p:cNvSpPr/>
          <p:nvPr/>
        </p:nvSpPr>
        <p:spPr>
          <a:xfrm>
            <a:off x="6400800" y="3675888"/>
            <a:ext cx="5074920" cy="1737360"/>
          </a:xfrm>
          <a:prstGeom prst="roundRect">
            <a:avLst>
              <a:gd name="adj" fmla="val 1579"/>
            </a:avLst>
          </a:prstGeom>
          <a:solidFill>
            <a:srgbClr val="F7F7F7"/>
          </a:solidFill>
          <a:ln w="15240">
            <a:solidFill>
              <a:srgbClr val="F7F7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20840" y="4000500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856" y="391363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AI may do — and just as clearly what it must not do.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720840" y="4411980"/>
            <a:ext cx="68580" cy="68580"/>
          </a:xfrm>
          <a:prstGeom prst="ellipse">
            <a:avLst/>
          </a:prstGeom>
          <a:solidFill>
            <a:srgbClr val="6B68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48856" y="432511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proof: tests, citations, logs, checks or reviewer approval.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6720840" y="4823460"/>
            <a:ext cx="68580" cy="68580"/>
          </a:xfrm>
          <a:prstGeom prst="ellipse">
            <a:avLst/>
          </a:prstGeom>
          <a:solidFill>
            <a:srgbClr val="B8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8856" y="473659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agent makes a mistake, improve the harness so the same mistake is harder to repeat.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822960" y="5715000"/>
            <a:ext cx="10561320" cy="438912"/>
          </a:xfrm>
          <a:prstGeom prst="roundRect">
            <a:avLst>
              <a:gd name="adj" fmla="val 4167"/>
            </a:avLst>
          </a:prstGeom>
          <a:solidFill>
            <a:srgbClr val="F1F1F1"/>
          </a:solidFill>
          <a:ln w="15240">
            <a:solidFill>
              <a:srgbClr val="F1F1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5852160"/>
            <a:ext cx="10149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Harness Engineering is how we move from “AI produced an answer” to “the system produced a verifiable, controlled outcome.”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Stanley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11155680" cy="0"/>
          </a:xfrm>
          <a:prstGeom prst="line">
            <a:avLst/>
          </a:prstGeom>
          <a:noFill/>
          <a:ln w="10795">
            <a:solidFill>
              <a:srgbClr val="7B7B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384048" cy="384048"/>
          </a:xfrm>
          <a:prstGeom prst="ellipse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" y="73152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87552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example: the AI coding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42416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7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model. Very different outcome depending on the harness around it.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7B7B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73952"/>
            <a:ext cx="9875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8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OpenAI Harness Engineering; Martin Fowler / Thoughtworks Harness Engineering. For discussion purposes.</a:t>
            </a:r>
            <a:endParaRPr lang="en-US" sz="58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8D8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21792" y="1444752"/>
            <a:ext cx="4983480" cy="393192"/>
          </a:xfrm>
          <a:prstGeom prst="rect">
            <a:avLst/>
          </a:prstGeom>
          <a:solidFill>
            <a:srgbClr val="B84A4A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554480"/>
            <a:ext cx="4764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harness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21792" y="1965960"/>
            <a:ext cx="4983480" cy="3246120"/>
          </a:xfrm>
          <a:prstGeom prst="roundRect">
            <a:avLst>
              <a:gd name="adj" fmla="val 563"/>
            </a:avLst>
          </a:prstGeom>
          <a:solidFill>
            <a:srgbClr val="F7F7F7"/>
          </a:solidFill>
          <a:ln w="15240">
            <a:solidFill>
              <a:srgbClr val="D5D5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24028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B8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37360" y="22037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 this bug and open a PR.”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0120" y="2866644"/>
            <a:ext cx="68580" cy="68580"/>
          </a:xfrm>
          <a:prstGeom prst="ellipse">
            <a:avLst/>
          </a:prstGeom>
          <a:solidFill>
            <a:srgbClr val="B8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2779776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searches broadly and may pick outdated context.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305556"/>
            <a:ext cx="68580" cy="68580"/>
          </a:xfrm>
          <a:prstGeom prst="ellipse">
            <a:avLst/>
          </a:prstGeom>
          <a:solidFill>
            <a:srgbClr val="B8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" y="3218688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edits files outside the intended area.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3744468"/>
            <a:ext cx="68580" cy="68580"/>
          </a:xfrm>
          <a:prstGeom prst="ellipse">
            <a:avLst/>
          </a:prstGeom>
          <a:solidFill>
            <a:srgbClr val="B8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8136" y="3657600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may be skipped or incomplete.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4183380"/>
            <a:ext cx="68580" cy="68580"/>
          </a:xfrm>
          <a:prstGeom prst="ellipse">
            <a:avLst/>
          </a:prstGeom>
          <a:solidFill>
            <a:srgbClr val="B8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" y="409651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sees a PR but not the reasoning, evidence or risk.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4727448"/>
            <a:ext cx="4315968" cy="320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8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837176"/>
            <a:ext cx="4069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faster activity, but uncertain trust.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0" y="1444752"/>
            <a:ext cx="4983480" cy="393192"/>
          </a:xfrm>
          <a:prstGeom prst="rect">
            <a:avLst/>
          </a:prstGeom>
          <a:solidFill>
            <a:srgbClr val="0A7EAA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1554480"/>
            <a:ext cx="4764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harness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6583680" y="1965960"/>
            <a:ext cx="4983480" cy="3246120"/>
          </a:xfrm>
          <a:prstGeom prst="roundRect">
            <a:avLst>
              <a:gd name="adj" fmla="val 563"/>
            </a:avLst>
          </a:prstGeom>
          <a:solidFill>
            <a:srgbClr val="F7F7F7"/>
          </a:solidFill>
          <a:ln w="15240">
            <a:solidFill>
              <a:srgbClr val="D5D5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240280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0A7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99248" y="22037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 this bug within the approved path.”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22008" y="2866644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0024" y="2779776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context is supplied: issue, owning component, coding standards.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22008" y="3305556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0024" y="3218688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tools and file boundaries are explicit.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22008" y="3744468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0024" y="3657600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tests, lint and security checks must pass.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22008" y="4183380"/>
            <a:ext cx="68580" cy="68580"/>
          </a:xfrm>
          <a:prstGeom prst="ellipse">
            <a:avLst/>
          </a:prstGeom>
          <a:solidFill>
            <a:srgbClr val="0A7E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0024" y="409651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 includes evidence, assumptions and human approval gate.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22008" y="4727448"/>
            <a:ext cx="4315968" cy="320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A7E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837176"/>
            <a:ext cx="4069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useful speed with visible control.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44184" y="2130552"/>
            <a:ext cx="0" cy="3063240"/>
          </a:xfrm>
          <a:prstGeom prst="line">
            <a:avLst/>
          </a:prstGeom>
          <a:noFill/>
          <a:ln w="15240">
            <a:solidFill>
              <a:srgbClr val="D5D5D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5840" y="5596128"/>
            <a:ext cx="10149840" cy="512064"/>
          </a:xfrm>
          <a:prstGeom prst="roundRect">
            <a:avLst>
              <a:gd name="adj" fmla="val 3571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88720" y="5788152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to tell: the harness does not replace developer judgement — it protects it, focuses it, and makes the agent’s work inspectable.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Engineering: From Trust Intent to Reliable AI Operation</dc:title>
  <dc:subject>Harness Engineering three slide explainer</dc:subject>
  <dc:creator>OpenAI</dc:creator>
  <cp:lastModifiedBy>OpenAI</cp:lastModifiedBy>
  <cp:revision>1</cp:revision>
  <dcterms:created xsi:type="dcterms:W3CDTF">2026-06-26T17:50:18Z</dcterms:created>
  <dcterms:modified xsi:type="dcterms:W3CDTF">2026-06-26T17:50:18Z</dcterms:modified>
</cp:coreProperties>
</file>